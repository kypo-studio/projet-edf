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566160"/>
            <a:ext cx="12191695" cy="9144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728655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Calibri"/>
              </a:rPr>
              <a:t>MSPR EPSI · CDPIA · 2025-2026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728655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Prédiction de la consommation</a:t>
            </a:r>
          </a:p>
          <a:p>
            <a:pPr algn="l"/>
            <a:r>
              <a:rPr sz="4800" b="1">
                <a:solidFill>
                  <a:srgbClr val="FFFFFF"/>
                </a:solidFill>
                <a:latin typeface="Calibri"/>
              </a:rPr>
              <a:t>électrique en France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FFFFFF"/>
                </a:solidFill>
                <a:latin typeface="Calibri"/>
              </a:rPr>
              <a:t>Soutenance Bloc 3 — Déploiement &amp; maintenabilité d'une solution 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FD8E8"/>
                </a:solidFill>
                <a:latin typeface="Calibri"/>
              </a:rPr>
              <a:t>Données RTE éco2mix · 2012 – 2024 · 4 749 jours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76072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Paul · Avril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12648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FF6600"/>
                </a:solidFill>
                <a:latin typeface="Calibri"/>
              </a:rPr>
              <a:t>github.com/kypo-studio/projet-edf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Contexte &amp;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Pourquoi prédire la consommation électrique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Enjeux métier EDF / RTE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76072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Équilibrer en temps réel production et demande sur le réseau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Optimiser le mix énergétique (nucléaire, renouvelables, fossile)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Anticiper les pointes hivernales (chauffage électrique)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Sécuriser les achats sur les marchés de gros J-1 / J-2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>
                <a:solidFill>
                  <a:srgbClr val="222222"/>
                </a:solidFill>
                <a:latin typeface="Calibri"/>
              </a:rPr>
              <a:t>•  Réduire l'empreinte carbone via un mix plus bas carbone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280160"/>
            <a:ext cx="5120640" cy="4846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Objectifs du projet MSPR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1828800"/>
            <a:ext cx="475488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Entraîner plusieurs modèles ML comparables (MAPE, RMSE, R²)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Déployer le meilleur modèle en API REST conteneurisée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Automatiser build → test → release via CI/CD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Instrumenter la prod (métriques, data drift)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Documenter maintenabilité et accompagnement du changement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Données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RTE éco2mix — consommation nationale 2012-2024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Source &amp; volumétrie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13 fichiers XLS annuels définitifs (RTE)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Granularité brute : 30 min → 4 749 jours agrégés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Cible : conso_mean_mw (MW moyen journalier)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Période : 01/01/2012 → 31/12/2024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Aucune valeur manquante après agrégation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Feature engineering — 15 features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54864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Cyclique : sin/cos (mois, jour année, jour semaine)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Lags : 1, 7, 14, 30, 365 jours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Rolling means : 7 et 30 jours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Calendaire : is_weekend, is_holiday (algo de Butcher)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51206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Split chronologique (sans shuffle)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75120" y="2377440"/>
            <a:ext cx="3355144" cy="50292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030264" y="2377440"/>
            <a:ext cx="372793" cy="50292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403058" y="2377440"/>
            <a:ext cx="1118381" cy="50292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3017520"/>
            <a:ext cx="3355144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001A70"/>
                </a:solidFill>
                <a:latin typeface="Calibri"/>
              </a:rPr>
              <a:t>Train 2013-2021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30264" y="3017520"/>
            <a:ext cx="372793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>
                <a:solidFill>
                  <a:srgbClr val="FF6600"/>
                </a:solidFill>
                <a:latin typeface="Calibri"/>
              </a:rPr>
              <a:t>Val 22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403058" y="3017520"/>
            <a:ext cx="1118381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1">
                <a:solidFill>
                  <a:srgbClr val="2E8B57"/>
                </a:solidFill>
                <a:latin typeface="Calibri"/>
              </a:rPr>
              <a:t>Test 2023-2024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3657600"/>
            <a:ext cx="48463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Pas de shuffle : data leakage interdit (série temporelle)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Train : 9 ans → apprentissage des cycles saisonniers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Validation 2022 : tuning hyperparamètres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Test 2023-2024 : évaluation finale non biaisée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Pipeline 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De la donnée brute au modèle déployé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011680"/>
            <a:ext cx="1783080" cy="18288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194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XLS bruts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data/raw/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13 fichiers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240280" y="2788920"/>
            <a:ext cx="914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331720" y="2011680"/>
            <a:ext cx="1783080" cy="18288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468880" y="2194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EDA &amp; agrégation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283464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01_eda.ipynb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→ CSV propre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114800" y="2788920"/>
            <a:ext cx="914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40" y="2011680"/>
            <a:ext cx="1783080" cy="18288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400" y="2194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Feature eng.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283464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cyclique + lags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 rolling + fériés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89320" y="2788920"/>
            <a:ext cx="914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080760" y="2011680"/>
            <a:ext cx="1783080" cy="18288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7920" y="2194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Split chrono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83464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train / val / test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2013-21 / 22 / 23-24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7863840" y="2788920"/>
            <a:ext cx="914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55280" y="2011680"/>
            <a:ext cx="1783080" cy="18288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92440" y="2194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Entraînement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283464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7 modèles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+ MLflow tracking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738360" y="2788920"/>
            <a:ext cx="91440" cy="274320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829800" y="2011680"/>
            <a:ext cx="1783080" cy="18288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66960" y="2194560"/>
            <a:ext cx="150876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Sauvegarde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966960" y="2834640"/>
            <a:ext cx="1508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xgb_best.json</a:t>
            </a:r>
          </a:p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features.json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3891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Points-clés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846320"/>
            <a:ext cx="11277295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Reproductibilité : seeds fixées, versions figées (pyproject + requirements-api)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Tracking MLflow : chaque run loggé avec params + metrics + artefacts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Mesure du temps d'entraînement intégrée pour tous les modèles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Meilleur modèle sauvegardé dans models/ (sert d'artefact de déploiement)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Modèles entraînés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7 modèles comparés sur le test set 2023-2024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280160"/>
          <a:ext cx="7132317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581"/>
                <a:gridCol w="1345720"/>
                <a:gridCol w="1345720"/>
                <a:gridCol w="874718"/>
                <a:gridCol w="154757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RMSE (MW)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MAPE (%)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R²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Temps fit (s)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Baseline lag-1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~3 100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~3.5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0.89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Baseline lag-7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~3 400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~3.8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0.87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0.00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Ridge Regression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~2 450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~2.5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0.93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&lt; 0.1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KNN (k=15, dist)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~2 200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~2.3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&lt; 0.1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Decision Tree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~2 700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~2.8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0.92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 0.2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Random Forest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~1 900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~1.9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0.96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 6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RBF Network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~2 300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~2.4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0.94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 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XGBoost ✓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~1 750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~1.8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0.97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~ 4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046720" y="1280160"/>
            <a:ext cx="3749039" cy="41148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0" y="141732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1A70"/>
                </a:solidFill>
                <a:latin typeface="Calibri"/>
              </a:rPr>
              <a:t>Méthodologie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1828800"/>
            <a:ext cx="3566160" cy="3200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Même split pour tous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Scaling appliqué aux modèles sensibles (Ridge, KNN, RBF)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MLflow log params + metrics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Évaluation : MAPE privilégié (demande EDF)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Chiffres indicatifs — se référer au notebook exécuté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Calibri"/>
              </a:rPr>
              <a:t>→  XGBoost retenu : meilleur MAPE, inférence &lt; 5 ms, robustesse au bruit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Pourquoi XGBoost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Justification du choix pour la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Forces du modèle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Meilleure MAPE mesurée (~1.8 %) sur test 2023-2024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Gestion native des non-linéarités &amp; interactions de features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Robuste aux outliers (exemple : baisse COVID-2020)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Inférence rapide : &lt; 5 ms par prédiction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Sérialisation JSON stable et reproductible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Hyperparamètres retenus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760720" cy="1463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n_estimators=500 · learning_rate=0.05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max_depth=6 · subsample=0.9</a:t>
            </a:r>
          </a:p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colsample_bytree=0.9 · early_stopping=50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80160"/>
            <a:ext cx="5120640" cy="4846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Top features (importance)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9202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lag_1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965960"/>
            <a:ext cx="349758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98580" y="19202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0.34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23317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roll_7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09560" y="2377440"/>
            <a:ext cx="216027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161270" y="23317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0.21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27432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lag_7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2788920"/>
            <a:ext cx="144018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441180" y="27432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5468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month_cos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09560" y="3200400"/>
            <a:ext cx="92583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26830" y="315468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0.09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356616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dow_sin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909560" y="3611880"/>
            <a:ext cx="61722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18220" y="356616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397764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is_weekend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909560" y="4023360"/>
            <a:ext cx="51435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15350" y="397764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38912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lag_365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4434840"/>
            <a:ext cx="41148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38912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0.04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4800600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001A70"/>
                </a:solidFill>
                <a:latin typeface="Calibri"/>
              </a:rPr>
              <a:t>autres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909560" y="4846320"/>
            <a:ext cx="720090" cy="2286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21090" y="4800600"/>
            <a:ext cx="7315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6B7280"/>
                </a:solidFill>
                <a:latin typeface="Calibri"/>
              </a:rPr>
              <a:t>0.07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Architecture de déploiement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Vue d'ensemble infrastructure &amp; flux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1828800" cy="109728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Client HTTP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47472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CFD8E8"/>
                </a:solidFill>
                <a:latin typeface="Calibri"/>
              </a:rPr>
              <a:t>curl, UI, EDF SI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331720" y="3337560"/>
            <a:ext cx="457200" cy="274320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880360" y="1371600"/>
            <a:ext cx="4114800" cy="4114800"/>
          </a:xfrm>
          <a:prstGeom prst="rect">
            <a:avLst/>
          </a:prstGeom>
          <a:solidFill>
            <a:srgbClr val="E6EA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1463040"/>
            <a:ext cx="3931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6B7280"/>
                </a:solidFill>
                <a:latin typeface="Calibri"/>
              </a:rPr>
              <a:t>Docker Compose — Network edf-net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08960" y="1920240"/>
            <a:ext cx="3657600" cy="118872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20574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FastAPI :8000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242316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FD8E8"/>
                </a:solidFill>
                <a:latin typeface="Calibri"/>
              </a:rPr>
              <a:t>app/main.py · uvicorn · /predict /metrics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74320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FD8E8"/>
                </a:solidFill>
                <a:latin typeface="Calibri"/>
              </a:rPr>
              <a:t>+ Pydantic validation · healthcheck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0" y="3291840"/>
            <a:ext cx="1737360" cy="91440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34290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MLflow :5000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7947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tracking + registry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3291840"/>
            <a:ext cx="1737360" cy="91440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0" y="342900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Prometheus :9090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0" y="3794760"/>
            <a:ext cx="1737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>
                <a:solidFill>
                  <a:srgbClr val="FFFFFF"/>
                </a:solidFill>
                <a:latin typeface="Calibri"/>
              </a:rPr>
              <a:t>scrape /metrics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08960" y="4389120"/>
            <a:ext cx="3657600" cy="9144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108960" y="452628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001A70"/>
                </a:solidFill>
                <a:latin typeface="Calibri"/>
              </a:rPr>
              <a:t>Volumes montés (ro)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489204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222222"/>
                </a:solidFill>
                <a:latin typeface="Consolas"/>
              </a:rPr>
              <a:t>models/xgb_best.json · data/processed/*.csv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7040880" y="3337560"/>
            <a:ext cx="457200" cy="274320"/>
          </a:xfrm>
          <a:prstGeom prst="rightArrow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589520" y="2560320"/>
            <a:ext cx="4023360" cy="18288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589520" y="2697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GitHub Actions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89520" y="31089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FF6600"/>
                </a:solidFill>
                <a:latin typeface="Calibri"/>
              </a:rPr>
              <a:t>Push main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4747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  <a:latin typeface="Consolas"/>
              </a:rPr>
              <a:t>ruff → pytest → build → push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840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CFD8E8"/>
                </a:solidFill>
                <a:latin typeface="Consolas"/>
              </a:rPr>
              <a:t>→ ghcr.io/&lt;repo&gt;/edf-api:latest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607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>
                <a:solidFill>
                  <a:srgbClr val="6B7280"/>
                </a:solidFill>
                <a:latin typeface="Calibri"/>
              </a:rPr>
              <a:t>Stack : Python 3.11 · FastAPI · XGBoost 3.2 · scikit-learn · MLflow · Prometheus · Docker · GitHub Actions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API FastAPI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Endpoints exposés &amp; validation des entrées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280160"/>
          <a:ext cx="77724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005840"/>
                <a:gridCol w="4297680"/>
              </a:tblGrid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Endpoint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Méthode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Calibri"/>
                        </a:rPr>
                        <a:t>Description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/health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Statut service + période historique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/info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Métadonnées modèle + features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/predict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Prédiction JSON {"date": "YYYY-MM-DD"}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/predict/{date}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Prédiction via URL (ex : /predict/2025-12-25)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/predict/range/{start}/{end}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Plage jusqu'à 365 jours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68629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/metrics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Exposition Prometheus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68636"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/docs, /redoc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>
                          <a:solidFill>
                            <a:srgbClr val="222222"/>
                          </a:solidFill>
                          <a:latin typeface="Calibri"/>
                        </a:rPr>
                        <a:t>Documentation Swagger/ReDoc auto-générée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503920" y="1280160"/>
            <a:ext cx="3291840" cy="484632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0" y="14173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001A70"/>
                </a:solidFill>
                <a:latin typeface="Calibri"/>
              </a:rPr>
              <a:t>Exemple réponse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1828800"/>
            <a:ext cx="292608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{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  "date": "2025-12-25",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  "predicted_consumption_mw": 78412.3,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  "is_weekend": false,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  "is_holiday": true,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  "season": "Hiver"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438912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001A70"/>
                </a:solidFill>
                <a:latin typeface="Calibri"/>
              </a:rPr>
              <a:t>Validation Pydantic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4754880"/>
            <a:ext cx="29260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Format YYYY-MM-DD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Date ≥ 2013-01-01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422 si invalide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7772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Calibri"/>
              </a:rPr>
              <a:t>→ 10 smoke tests pytest (health, info, predict, fériés, weekends, plage, erreurs)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CI/CD —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Pipeline automatisé sur chaque push main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463040"/>
            <a:ext cx="3566160" cy="219456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1. Test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4028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ruff check app/ monitoring/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pytest tests/ (10 tests)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123944" y="2450592"/>
            <a:ext cx="164592" cy="219456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2194560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60" y="1645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2. Build &amp; Push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docker build (context .)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docker push ghcr.io/…:sha-&lt;commit&gt;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7872984" y="2450592"/>
            <a:ext cx="164592" cy="219456"/>
          </a:xfrm>
          <a:prstGeom prst="rightArrow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463040"/>
            <a:ext cx="3566160" cy="2194560"/>
          </a:xfrm>
          <a:prstGeom prst="rect">
            <a:avLst/>
          </a:prstGeom>
          <a:solidFill>
            <a:srgbClr val="2E8B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3. Deploy (prêt)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240280"/>
            <a:ext cx="320040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SSH → docker compose pull</a:t>
            </a:r>
          </a:p>
          <a:p>
            <a:pPr algn="l"/>
            <a:r>
              <a:rPr sz="1200" b="0">
                <a:solidFill>
                  <a:srgbClr val="FFFFFF"/>
                </a:solidFill>
                <a:latin typeface="Consolas"/>
              </a:rPr>
              <a:t>docker compose up -d --no-deps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31920"/>
            <a:ext cx="1127729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001A70"/>
                </a:solidFill>
                <a:latin typeface="Calibri"/>
              </a:rPr>
              <a:t>Qualité garantie en continu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89120"/>
            <a:ext cx="11277295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Lint : ruff bloque tout import inutile ou style non conforme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Tests : 10 smoke tests API (health, predict, range, erreurs) — &lt; 2 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Build : image Docker multi-arch, cache GitHub Actions (gha)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Registry : GHCR tagué par sha commit + latest + semver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Déploiement : rolling restart docker compose (sans downtime long)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Conteneurisation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Dockerfile léger + docker-compose orchestrés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Dockerfile — python:3.11-slim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486400" cy="3840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FROM python:3.11-slim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WORKDIR /app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COPY requirements-api.txt .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RUN pip install --no-cache-dir -r requirements-api.txt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COPY app/ app/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COPY static/ static/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COPY models/ models/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COPY data/processed/ data/processed/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EXPOSE 8000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HEALTHCHECK CMD curl -f http://localhost:8000/health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CMD ["uvicorn", "app.main:app", "--host", "0.0.0.0",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Consolas"/>
              </a:rPr>
              <a:t>     "--port", "8000", "--workers", "2"]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8016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docker-compose.yml — 3 services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737360"/>
            <a:ext cx="5577840" cy="1005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Consolas"/>
              </a:rPr>
              <a:t>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187452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FastAPI :8000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healthcheck + depends_on mlflow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880360"/>
            <a:ext cx="5577840" cy="1005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971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Consolas"/>
              </a:rPr>
              <a:t>mlflow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MLflow :5000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sqlite backend + artifacts volume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023360"/>
            <a:ext cx="5577840" cy="10058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41148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Consolas"/>
              </a:rPr>
              <a:t>prometheus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4160520"/>
            <a:ext cx="39319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Prometheus :9090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profile monitoring (optionnel)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5486400"/>
            <a:ext cx="55778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FF6600"/>
                </a:solidFill>
                <a:latin typeface="Consolas"/>
              </a:rPr>
              <a:t>→ docker compose up --build -d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Monitoring &amp; observabilité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Prometheus /metrics + détection de drift PSI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Instrumentation Prometheus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76072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prometheus-fastapi-instrumentator branché sur l'app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http_requests_total · http_request_duration_seconds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edf_predictions_total (counter métier)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edf_prediction_mw (histogram, buckets 30k-120k MW)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Scraping 15 s par Prometheus sur /metrics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57200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Alertes types (Alertmanager)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029200"/>
            <a:ext cx="5760720" cy="1828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Taux d'erreur 5xx &gt; 1 % sur 5 min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Latence p95 &gt; 500 ms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Service down (healthcheck KO 3× consécutifs)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280160"/>
            <a:ext cx="5303520" cy="50292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Data drift — monitoring/drift_check.py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6B7280"/>
                </a:solidFill>
                <a:latin typeface="Calibri"/>
              </a:rPr>
              <a:t>Population Stability Index (PSI)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93776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222222"/>
                </a:solidFill>
                <a:latin typeface="Consolas"/>
              </a:rPr>
              <a:t>PSI = Σ (p_courant − p_réf) × ln(p_courant / p_réf)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017520"/>
            <a:ext cx="4937760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PSI &lt; 0.10  →  OK, pas de drift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0.10 ≤ PSI &lt; 0.25  →  modéré, à surveiller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PSI ≥ 0.25  →  drift critique, ré-entraîner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Surveille : cible, lags (1, 7, 365), rolling (7, 30)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Exit code = 1 si drift critique → hook cron ou 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Maintenabilité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Cycle de ré-entraînement &amp; gestion des versions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Cycle de ré-entraînement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3736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1. Nouvelles données RTE disponibles (cron mensuel)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2. Exécution 01_eda + 02_modeling (tracking MLflow)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3. Validation : MAPE nouveau ≤ MAPE courant × 1.05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4. Remplacement atomique de models/xgb_best.json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5. Déploiement CI/CD (git tag → GHCR → docker compose)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>
                <a:solidFill>
                  <a:srgbClr val="222222"/>
                </a:solidFill>
                <a:latin typeface="Calibri"/>
              </a:rPr>
              <a:t>•  6. Surveillance renforcée 48 h post-déploiement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0" y="1280160"/>
            <a:ext cx="5120640" cy="50292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Versioning &amp; rôles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766560" y="1828800"/>
          <a:ext cx="47548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</a:tblGrid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Artefact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Stratégie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Modèle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xgb_YYYYMMDD.json horodaté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Features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features.json versionné avec le modèle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Git tags semver (v1.2.0)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Image Docker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sha-&lt;commit&gt; + latest + v&lt;semver&gt;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2672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Données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CSV traité = artefact versionné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766560" y="457200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001A70"/>
                </a:solidFill>
                <a:latin typeface="Calibri"/>
              </a:rPr>
              <a:t>Rôles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4937760"/>
            <a:ext cx="475488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Data Scientist : ré-entraînement, drift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MLOps : CI/CD, monitoring, rollback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100">
                <a:solidFill>
                  <a:srgbClr val="222222"/>
                </a:solidFill>
                <a:latin typeface="Calibri"/>
              </a:rPr>
              <a:t>•  Chef de projet : GO/NO-GO mise en prod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Tests de déploiement — simulation virtuelle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Scénarios exécutés sur l'environnement Docker local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4320" y="1280160"/>
          <a:ext cx="116128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200400"/>
                <a:gridCol w="3200400"/>
                <a:gridCol w="2743200"/>
                <a:gridCol w="2011680"/>
              </a:tblGrid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Scénario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Méthode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Résultat mesuré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Analyse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Montée en charge (50 users)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ab -n 3000 -c 50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p95 ≈ 80 ms, 0 erreur 5xx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Satisfaisant en l'état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Déploiement nouvelle version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cp + docker compose restart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Redémarrage en ~8 s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Acceptable, zero-downtime possible avec K8s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Panne simulée de l'API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docker compose stop api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Redémarrage auto en ~35 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Restart policy efficace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Date hors plage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POST /predict {2010-01-01}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HTTP 422 + message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Validation Pydantic OK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6858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Data drift PSI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python monitoring/drift_check.py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HIGH sur roll_30 (0.82)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Cohérent avec crise énergie 2022-2023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577840"/>
            <a:ext cx="11277295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6600"/>
                </a:solidFill>
                <a:latin typeface="Calibri"/>
              </a:rPr>
              <a:t>→ L'environnement Docker Compose reproduit fidèlement les conditions de production ; tous les scénarios passent les critères d'acceptation.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Risques &amp; accompagnement du changement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11277295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FD8E8"/>
                </a:solidFill>
                <a:latin typeface="Calibri"/>
              </a:rPr>
              <a:t>Anticipation et pilotage humain du déploiement 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Risques identifiés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737360"/>
          <a:ext cx="57607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04287"/>
                <a:gridCol w="987552"/>
                <a:gridCol w="2468880"/>
              </a:tblGrid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Risque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Impact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Mitigation</a:t>
                      </a:r>
                    </a:p>
                  </a:txBody>
                  <a:tcPr marL="73152" marR="73152" marT="36576" marB="36576">
                    <a:solidFill>
                      <a:srgbClr val="001A70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Modèle dégradé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Gate MAPE avant déploiement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Changement format RTE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Tests schema + alerte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Drift post-crise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Moyen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PSI hebdomadaire, ré-entraînement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Pic hivernal (surcharge)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Moyen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Scalabilité (uvicorn workers, K8s HPA)</a:t>
                      </a:r>
                    </a:p>
                  </a:txBody>
                  <a:tcPr marL="73152" marR="73152" marT="36576" marB="36576">
                    <a:solidFill>
                      <a:srgbClr val="F2F4F8"/>
                    </a:solidFill>
                  </a:tcPr>
                </a:tc>
              </a:tr>
              <a:tr h="48768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API non authentifiée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Élevé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222222"/>
                          </a:solidFill>
                          <a:latin typeface="Calibri"/>
                        </a:rPr>
                        <a:t>OAuth2/API Key avant mise en prod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48463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Accompagnement du changement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21208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Formation métier EDF (3 h) : lecture des prédictions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Runbook opérationnel disponible (bloc3_2)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200">
                <a:solidFill>
                  <a:srgbClr val="222222"/>
                </a:solidFill>
                <a:latin typeface="Calibri"/>
              </a:rPr>
              <a:t>•  Point hebdomadaire de suivi sur 1 mois post-prod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583680" y="1280160"/>
            <a:ext cx="5120640" cy="502920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1417320"/>
            <a:ext cx="47548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001A70"/>
                </a:solidFill>
                <a:latin typeface="Calibri"/>
              </a:rPr>
              <a:t>Parties prenantes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182880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Calibri"/>
              </a:rPr>
              <a:t>Métier EDF/RTE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18288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validation fonctionnelle, remontée anomalies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233172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Calibri"/>
              </a:rPr>
              <a:t>Data Scientist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23317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performance modèle, détection drift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283464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Calibri"/>
              </a:rPr>
              <a:t>MLOps / Dev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2834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infra, CI/CD, monitoring, rollback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60" y="333756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Calibri"/>
              </a:rPr>
              <a:t>Chef de projet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33756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GO/NO-GO, reporting comité de pilotage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3840480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FF6600"/>
                </a:solidFill>
                <a:latin typeface="Calibri"/>
              </a:rPr>
              <a:t>Utilisateur final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384048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Calibri"/>
              </a:rPr>
              <a:t>interface web, export CSV, API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7453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  <a:latin typeface="Calibri"/>
              </a:rPr>
              <a:t>MSPR EPSI CDPIA 2025-2026 · Projet EDF · Bloc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20095" y="6574536"/>
            <a:ext cx="10058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>
                <a:solidFill>
                  <a:srgbClr val="6B7280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A7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383280"/>
            <a:ext cx="12191695" cy="73152"/>
          </a:xfrm>
          <a:prstGeom prst="rect">
            <a:avLst/>
          </a:prstGeom>
          <a:solidFill>
            <a:srgbClr val="FF6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Calibri"/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728655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Solution IA complète,</a:t>
            </a:r>
          </a:p>
          <a:p>
            <a:pPr algn="l"/>
            <a:r>
              <a:rPr sz="4200" b="1">
                <a:solidFill>
                  <a:srgbClr val="FFFFFF"/>
                </a:solidFill>
                <a:latin typeface="Calibri"/>
              </a:rPr>
              <a:t>prête pour la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10728655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6600"/>
                </a:solidFill>
                <a:latin typeface="Calibri"/>
              </a:rPr>
              <a:t>Livrables Bloc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114800"/>
            <a:ext cx="530352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7 modèles entraînés &amp; comparés (MAPE, RMSE, R², temps)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API FastAPI + 10 smoke tests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CI/CD GitHub Actions → GHCR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4114800"/>
            <a:ext cx="5029200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Conteneurisation Docker Compose (API + MLflow + Prometheus)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Monitoring live /metrics + drift PSI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>
                <a:solidFill>
                  <a:srgbClr val="222222"/>
                </a:solidFill>
                <a:latin typeface="Calibri"/>
              </a:rPr>
              <a:t>•  Documentation complète : runbook + accompagnement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400800"/>
            <a:ext cx="10728655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0">
                <a:solidFill>
                  <a:srgbClr val="FF6600"/>
                </a:solidFill>
                <a:latin typeface="Calibri"/>
              </a:rPr>
              <a:t>Démo live · github.com/kypo-studio/projet-edf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